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12192000"/>
  <p:notesSz cx="6858000" cy="12192000"/>
  <p:embeddedFontLst>
    <p:embeddedFont>
      <p:font typeface="Plus Jakarta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CF8FD0-4485-49F3-B93D-573E424638A0}">
  <a:tblStyle styleId="{C1CF8FD0-4485-49F3-B93D-573E424638A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PlusJakartaSans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PlusJakartaSans-italic.fntdata"/><Relationship Id="rId21" Type="http://schemas.openxmlformats.org/officeDocument/2006/relationships/slide" Target="slides/slide16.xml"/><Relationship Id="rId43" Type="http://schemas.openxmlformats.org/officeDocument/2006/relationships/font" Target="fonts/PlusJakarta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PlusJakarta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F4F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1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244" y="612648"/>
            <a:ext cx="786384" cy="7589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2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0804" y="612648"/>
            <a:ext cx="603504" cy="7589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3"/>
          <p:cNvCxnSpPr/>
          <p:nvPr/>
        </p:nvCxnSpPr>
        <p:spPr>
          <a:xfrm>
            <a:off x="809244" y="1920240"/>
            <a:ext cx="9537192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 txBox="1"/>
          <p:nvPr/>
        </p:nvSpPr>
        <p:spPr>
          <a:xfrm>
            <a:off x="809244" y="21305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50"/>
              <a:buFont typeface="Plus Jakarta Sans"/>
              <a:buNone/>
            </a:pPr>
            <a:r>
              <a:rPr b="1" i="0" lang="en-US" sz="125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DETAIL · VERSION 8</a:t>
            </a:r>
            <a:endParaRPr b="0" i="0" sz="12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809244" y="2487168"/>
            <a:ext cx="100584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6400"/>
              <a:buFont typeface="Plus Jakarta Sans"/>
              <a:buNone/>
            </a:pPr>
            <a:r>
              <a:rPr b="1" i="0" lang="en-US" sz="6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</a:t>
            </a:r>
            <a:endParaRPr b="0" i="0" sz="6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6400"/>
              <a:buFont typeface="Plus Jakarta Sans"/>
              <a:buNone/>
            </a:pPr>
            <a:r>
              <a:rPr b="1" i="0" lang="en-US" sz="6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Assistant</a:t>
            </a:r>
            <a:endParaRPr b="0" i="0" sz="6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809244" y="4443984"/>
            <a:ext cx="7223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700"/>
              <a:buFont typeface="Plus Jakarta Sans"/>
              <a:buNone/>
            </a:pPr>
            <a:r>
              <a:rPr b="0" i="0" lang="en-US" sz="17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private enterprise learning platform for administrators, instructors, and students.</a:t>
            </a:r>
            <a:endParaRPr b="0" i="0" sz="1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809244" y="5321808"/>
            <a:ext cx="9537192" cy="0"/>
          </a:xfrm>
          <a:prstGeom prst="straightConnector1">
            <a:avLst/>
          </a:prstGeom>
          <a:noFill/>
          <a:ln cap="flat" cmpd="sng" w="15875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 txBox="1"/>
          <p:nvPr/>
        </p:nvSpPr>
        <p:spPr>
          <a:xfrm>
            <a:off x="809244" y="58704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Platform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809244" y="610819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50"/>
              <a:buFont typeface="Plus Jakarta Sans"/>
              <a:buNone/>
            </a:pPr>
            <a:r>
              <a:rPr b="1" i="0" lang="en-US" sz="15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 + Mobile</a:t>
            </a:r>
            <a:endParaRPr b="0" i="0" sz="15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3689604" y="58704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Features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3689604" y="610819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50"/>
              <a:buFont typeface="Plus Jakarta Sans"/>
              <a:buNone/>
            </a:pPr>
            <a:r>
              <a:rPr b="1" i="0" lang="en-US" sz="15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 modules</a:t>
            </a:r>
            <a:endParaRPr b="0" i="0" sz="15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overview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7" name="Google Shape;37;p4"/>
          <p:cNvCxnSpPr/>
          <p:nvPr/>
        </p:nvCxnSpPr>
        <p:spPr>
          <a:xfrm>
            <a:off x="809244" y="1755648"/>
            <a:ext cx="5852160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4"/>
          <p:cNvSpPr txBox="1"/>
          <p:nvPr/>
        </p:nvSpPr>
        <p:spPr>
          <a:xfrm>
            <a:off x="809244" y="1947672"/>
            <a:ext cx="5852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intelligent, context-aware learning companion designed to personalize education for students and streamline workflows for educators.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809244" y="3429000"/>
            <a:ext cx="5852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Plus Jakarta Sans"/>
              <a:buNone/>
            </a:pP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Built directly into the coursework experience, the platform delivers personalized interactive tutoring, automated concept summarization, and smart knowledge querying. It bridges curriculum materials with real-time AI guidance to keep students engaged and instructors informed.</a:t>
            </a:r>
            <a:endParaRPr b="0" i="0" sz="12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40" name="Google Shape;40;p4"/>
          <p:cNvCxnSpPr/>
          <p:nvPr/>
        </p:nvCxnSpPr>
        <p:spPr>
          <a:xfrm>
            <a:off x="7301484" y="1755648"/>
            <a:ext cx="4078224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4"/>
          <p:cNvSpPr txBox="1"/>
          <p:nvPr/>
        </p:nvSpPr>
        <p:spPr>
          <a:xfrm>
            <a:off x="7301484" y="1883664"/>
            <a:ext cx="4078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Administrators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7301484" y="2176272"/>
            <a:ext cx="4078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Plus Jakarta Sans"/>
              <a:buNone/>
            </a:pPr>
            <a:r>
              <a:rPr b="0" i="0" lang="en-US" sz="11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Govern user operations</a:t>
            </a:r>
            <a:endParaRPr b="0"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43" name="Google Shape;43;p4"/>
          <p:cNvCxnSpPr/>
          <p:nvPr/>
        </p:nvCxnSpPr>
        <p:spPr>
          <a:xfrm>
            <a:off x="7301484" y="2715768"/>
            <a:ext cx="4078224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4"/>
          <p:cNvSpPr txBox="1"/>
          <p:nvPr/>
        </p:nvSpPr>
        <p:spPr>
          <a:xfrm>
            <a:off x="7301484" y="2843784"/>
            <a:ext cx="4078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Instructors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7301484" y="3136392"/>
            <a:ext cx="4078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Plus Jakarta Sans"/>
              <a:buNone/>
            </a:pPr>
            <a:r>
              <a:rPr b="0" i="0" lang="en-US" sz="11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 curricula and evaluations</a:t>
            </a:r>
            <a:endParaRPr b="0"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46" name="Google Shape;46;p4"/>
          <p:cNvCxnSpPr/>
          <p:nvPr/>
        </p:nvCxnSpPr>
        <p:spPr>
          <a:xfrm>
            <a:off x="7301484" y="3675888"/>
            <a:ext cx="4078224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4"/>
          <p:cNvSpPr txBox="1"/>
          <p:nvPr/>
        </p:nvSpPr>
        <p:spPr>
          <a:xfrm>
            <a:off x="7301484" y="3803904"/>
            <a:ext cx="4078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Students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7301484" y="4096512"/>
            <a:ext cx="4078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Plus Jakarta Sans"/>
              <a:buNone/>
            </a:pPr>
            <a:r>
              <a:rPr b="0" i="0" lang="en-US" sz="11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Engage in authorized coursework</a:t>
            </a:r>
            <a:endParaRPr b="0"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Eight features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809244" y="1755648"/>
            <a:ext cx="3267456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5"/>
          <p:cNvSpPr txBox="1"/>
          <p:nvPr/>
        </p:nvSpPr>
        <p:spPr>
          <a:xfrm>
            <a:off x="809244" y="191109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Plus Jakarta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1156716" y="1883664"/>
            <a:ext cx="2919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Authentication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61" name="Google Shape;61;p5"/>
          <p:cNvCxnSpPr/>
          <p:nvPr/>
        </p:nvCxnSpPr>
        <p:spPr>
          <a:xfrm>
            <a:off x="4460748" y="1755648"/>
            <a:ext cx="3267456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5"/>
          <p:cNvSpPr txBox="1"/>
          <p:nvPr/>
        </p:nvSpPr>
        <p:spPr>
          <a:xfrm>
            <a:off x="4460748" y="191109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Plus Jakarta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4808220" y="1883664"/>
            <a:ext cx="2919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Profile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64" name="Google Shape;64;p5"/>
          <p:cNvCxnSpPr/>
          <p:nvPr/>
        </p:nvCxnSpPr>
        <p:spPr>
          <a:xfrm>
            <a:off x="8112252" y="1755648"/>
            <a:ext cx="3267456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5"/>
          <p:cNvSpPr txBox="1"/>
          <p:nvPr/>
        </p:nvSpPr>
        <p:spPr>
          <a:xfrm>
            <a:off x="8112252" y="191109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Plus Jakarta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8459724" y="1883664"/>
            <a:ext cx="2919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 Dashboard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67" name="Google Shape;67;p5"/>
          <p:cNvCxnSpPr/>
          <p:nvPr/>
        </p:nvCxnSpPr>
        <p:spPr>
          <a:xfrm>
            <a:off x="809244" y="2715768"/>
            <a:ext cx="3267456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5"/>
          <p:cNvSpPr txBox="1"/>
          <p:nvPr/>
        </p:nvSpPr>
        <p:spPr>
          <a:xfrm>
            <a:off x="809244" y="287121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Plus Jakarta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1156716" y="2843784"/>
            <a:ext cx="2919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Classroom &amp; Learning Material Management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70" name="Google Shape;70;p5"/>
          <p:cNvCxnSpPr/>
          <p:nvPr/>
        </p:nvCxnSpPr>
        <p:spPr>
          <a:xfrm>
            <a:off x="4460748" y="2715768"/>
            <a:ext cx="3267456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5"/>
          <p:cNvSpPr txBox="1"/>
          <p:nvPr/>
        </p:nvSpPr>
        <p:spPr>
          <a:xfrm>
            <a:off x="4460748" y="287121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Plus Jakarta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4808220" y="2843784"/>
            <a:ext cx="2919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Workspaces (personal &amp; course)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73" name="Google Shape;73;p5"/>
          <p:cNvCxnSpPr/>
          <p:nvPr/>
        </p:nvCxnSpPr>
        <p:spPr>
          <a:xfrm>
            <a:off x="8112252" y="2715768"/>
            <a:ext cx="3267456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5"/>
          <p:cNvSpPr txBox="1"/>
          <p:nvPr/>
        </p:nvSpPr>
        <p:spPr>
          <a:xfrm>
            <a:off x="8112252" y="287121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Plus Jakarta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8459724" y="2843784"/>
            <a:ext cx="2919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AI-Generated Learning Resources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76" name="Google Shape;76;p5"/>
          <p:cNvCxnSpPr/>
          <p:nvPr/>
        </p:nvCxnSpPr>
        <p:spPr>
          <a:xfrm>
            <a:off x="809244" y="3675888"/>
            <a:ext cx="3267456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5"/>
          <p:cNvSpPr txBox="1"/>
          <p:nvPr/>
        </p:nvSpPr>
        <p:spPr>
          <a:xfrm>
            <a:off x="809244" y="383133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Plus Jakarta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1156716" y="3803904"/>
            <a:ext cx="2919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Tutor Chat &amp; Summarization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79" name="Google Shape;79;p5"/>
          <p:cNvCxnSpPr/>
          <p:nvPr/>
        </p:nvCxnSpPr>
        <p:spPr>
          <a:xfrm>
            <a:off x="4460748" y="3675888"/>
            <a:ext cx="3267456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5"/>
          <p:cNvSpPr txBox="1"/>
          <p:nvPr/>
        </p:nvSpPr>
        <p:spPr>
          <a:xfrm>
            <a:off x="4460748" y="383133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Plus Jakarta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4808220" y="3803904"/>
            <a:ext cx="2919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Mobile App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809244" y="640080"/>
            <a:ext cx="1057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809244" y="896112"/>
            <a:ext cx="10570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Recent updates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91" name="Google Shape;91;p6"/>
          <p:cNvGraphicFramePr/>
          <p:nvPr/>
        </p:nvGraphicFramePr>
        <p:xfrm>
          <a:off x="809244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{C1CF8FD0-4485-49F3-B93D-573E424638A0}</a:tableStyleId>
              </a:tblPr>
              <a:tblGrid>
                <a:gridCol w="2560325"/>
                <a:gridCol w="80101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Personal workspace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 longer linked to a classroom. It holds only the sources its owner adds.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Classroom structure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 classroom holds one or more courses.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Course workspace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New. Created inside a course; its sources are the course materials.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Course workspace sources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Students cannot upload or remove documents, because the instructor has already uploaded them.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AI tutor scope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Set by the workspace: a personal workspace uses my sources, a course workspace uses the course materials.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809244" y="2169541"/>
            <a:ext cx="713232" cy="57150"/>
          </a:xfrm>
          <a:prstGeom prst="rect">
            <a:avLst/>
          </a:prstGeom>
          <a:solidFill>
            <a:srgbClr val="1F4F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809244" y="2473579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01 OF 08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809244" y="2821051"/>
            <a:ext cx="6949440" cy="69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4900"/>
              <a:buFont typeface="Plus Jakarta Sans"/>
              <a:buNone/>
            </a:pPr>
            <a:r>
              <a:rPr b="1" i="0" lang="en-US" sz="49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Authentication</a:t>
            </a:r>
            <a:endParaRPr b="0" i="0" sz="4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809244" y="3664331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Login and forgot password</a:t>
            </a:r>
            <a:endParaRPr b="0"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01" name="Google Shape;101;p7"/>
          <p:cNvCxnSpPr/>
          <p:nvPr/>
        </p:nvCxnSpPr>
        <p:spPr>
          <a:xfrm>
            <a:off x="809244" y="4231259"/>
            <a:ext cx="6949440" cy="0"/>
          </a:xfrm>
          <a:prstGeom prst="straightConnector1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7"/>
          <p:cNvSpPr txBox="1"/>
          <p:nvPr/>
        </p:nvSpPr>
        <p:spPr>
          <a:xfrm>
            <a:off x="809244" y="4450715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INSTRUCTOR / STUDENT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7223760" y="1737360"/>
            <a:ext cx="45262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7F5"/>
              </a:buClr>
              <a:buSzPts val="21600"/>
              <a:buFont typeface="Plus Jakarta Sans"/>
              <a:buNone/>
            </a:pPr>
            <a:r>
              <a:rPr b="1" i="0" lang="en-US" sz="21600" u="none" cap="none" strike="noStrike">
                <a:solidFill>
                  <a:srgbClr val="C9D7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0" i="0" sz="216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 · AUTHENTICATION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Sign-in and password recovery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13" name="Google Shape;113;p8"/>
          <p:cNvCxnSpPr/>
          <p:nvPr/>
        </p:nvCxnSpPr>
        <p:spPr>
          <a:xfrm>
            <a:off x="809244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8"/>
          <p:cNvSpPr txBox="1"/>
          <p:nvPr/>
        </p:nvSpPr>
        <p:spPr>
          <a:xfrm>
            <a:off x="809244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Sign-in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Email or username + password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First login requires a password reset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“Remember me” option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15" name="Google Shape;115;p8"/>
          <p:cNvCxnSpPr/>
          <p:nvPr/>
        </p:nvCxnSpPr>
        <p:spPr>
          <a:xfrm>
            <a:off x="6551676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8"/>
          <p:cNvSpPr txBox="1"/>
          <p:nvPr/>
        </p:nvSpPr>
        <p:spPr>
          <a:xfrm>
            <a:off x="6551676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Forgot password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Input email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Verify the OTP code sent by email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 and confirm a new password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Redirect to the login page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3" name="Google Shape;123;p9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" name="Google Shape;124;p9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 · AUTHENTICATION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" name="Google Shape;125;p9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Reset OTP and confirmation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26" name="Google Shape;126;p9"/>
          <p:cNvCxnSpPr/>
          <p:nvPr/>
        </p:nvCxnSpPr>
        <p:spPr>
          <a:xfrm>
            <a:off x="809244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9"/>
          <p:cNvSpPr txBox="1"/>
          <p:nvPr/>
        </p:nvSpPr>
        <p:spPr>
          <a:xfrm>
            <a:off x="809244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Reset OTP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Emailed as a single-use, time-limited code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 for 2–5 minutes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Invalidated after use or after a new request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28" name="Google Shape;128;p9"/>
          <p:cNvCxnSpPr/>
          <p:nvPr/>
        </p:nvCxnSpPr>
        <p:spPr>
          <a:xfrm>
            <a:off x="6551676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9"/>
          <p:cNvSpPr txBox="1"/>
          <p:nvPr/>
        </p:nvSpPr>
        <p:spPr>
          <a:xfrm>
            <a:off x="6551676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After reset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Confirmation email: “Your password was changed”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Redirect to sign-in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/>
          <p:nvPr/>
        </p:nvSpPr>
        <p:spPr>
          <a:xfrm>
            <a:off x="809244" y="2169541"/>
            <a:ext cx="713232" cy="57150"/>
          </a:xfrm>
          <a:prstGeom prst="rect">
            <a:avLst/>
          </a:prstGeom>
          <a:solidFill>
            <a:srgbClr val="1F4F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 txBox="1"/>
          <p:nvPr/>
        </p:nvSpPr>
        <p:spPr>
          <a:xfrm>
            <a:off x="809244" y="2473579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02 OF 08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7" name="Google Shape;137;p10"/>
          <p:cNvSpPr txBox="1"/>
          <p:nvPr/>
        </p:nvSpPr>
        <p:spPr>
          <a:xfrm>
            <a:off x="809244" y="2821051"/>
            <a:ext cx="6949440" cy="69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4900"/>
              <a:buFont typeface="Plus Jakarta Sans"/>
              <a:buNone/>
            </a:pPr>
            <a:r>
              <a:rPr b="1" i="0" lang="en-US" sz="49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Profile</a:t>
            </a:r>
            <a:endParaRPr b="0" i="0" sz="4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8" name="Google Shape;138;p10"/>
          <p:cNvSpPr txBox="1"/>
          <p:nvPr/>
        </p:nvSpPr>
        <p:spPr>
          <a:xfrm>
            <a:off x="809244" y="3664331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Instructor profile and student profile</a:t>
            </a:r>
            <a:endParaRPr b="0"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39" name="Google Shape;139;p10"/>
          <p:cNvCxnSpPr/>
          <p:nvPr/>
        </p:nvCxnSpPr>
        <p:spPr>
          <a:xfrm>
            <a:off x="809244" y="4231259"/>
            <a:ext cx="6949440" cy="0"/>
          </a:xfrm>
          <a:prstGeom prst="straightConnector1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0"/>
          <p:cNvSpPr txBox="1"/>
          <p:nvPr/>
        </p:nvSpPr>
        <p:spPr>
          <a:xfrm>
            <a:off x="809244" y="4450715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INSTRUCTOR / STUDENT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7223760" y="1737360"/>
            <a:ext cx="45262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7F5"/>
              </a:buClr>
              <a:buSzPts val="21600"/>
              <a:buFont typeface="Plus Jakarta Sans"/>
              <a:buNone/>
            </a:pPr>
            <a:r>
              <a:rPr b="1" i="0" lang="en-US" sz="21600" u="none" cap="none" strike="noStrike">
                <a:solidFill>
                  <a:srgbClr val="C9D7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216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9" name="Google Shape;149;p11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 · PROFILE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Instructor and student profiles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51" name="Google Shape;151;p11"/>
          <p:cNvCxnSpPr/>
          <p:nvPr/>
        </p:nvCxnSpPr>
        <p:spPr>
          <a:xfrm>
            <a:off x="809244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1"/>
          <p:cNvSpPr txBox="1"/>
          <p:nvPr/>
        </p:nvSpPr>
        <p:spPr>
          <a:xfrm>
            <a:off x="809244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Instructor profile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View profile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Update profile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Change password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Organization (course, class)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Contact: official email shown to enrolled students and admin only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Logout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53" name="Google Shape;153;p11"/>
          <p:cNvCxnSpPr/>
          <p:nvPr/>
        </p:nvCxnSpPr>
        <p:spPr>
          <a:xfrm>
            <a:off x="6551676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11"/>
          <p:cNvSpPr txBox="1"/>
          <p:nvPr/>
        </p:nvSpPr>
        <p:spPr>
          <a:xfrm>
            <a:off x="6551676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 profile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View profile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 ID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Prompted after first login to add class, course (optional)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Update profile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Change password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Logout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/>
          <p:nvPr/>
        </p:nvSpPr>
        <p:spPr>
          <a:xfrm>
            <a:off x="809244" y="2169541"/>
            <a:ext cx="713232" cy="57150"/>
          </a:xfrm>
          <a:prstGeom prst="rect">
            <a:avLst/>
          </a:prstGeom>
          <a:solidFill>
            <a:srgbClr val="1F4F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 txBox="1"/>
          <p:nvPr/>
        </p:nvSpPr>
        <p:spPr>
          <a:xfrm>
            <a:off x="809244" y="2473579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03 OF 08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809244" y="2821051"/>
            <a:ext cx="6949440" cy="69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4900"/>
              <a:buFont typeface="Plus Jakarta Sans"/>
              <a:buNone/>
            </a:pPr>
            <a:r>
              <a:rPr b="1" i="0" lang="en-US" sz="49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 Dashboard</a:t>
            </a:r>
            <a:endParaRPr b="0" i="0" sz="4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809244" y="3664331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Users, classrooms and account security</a:t>
            </a:r>
            <a:endParaRPr b="0"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64" name="Google Shape;164;p12"/>
          <p:cNvCxnSpPr/>
          <p:nvPr/>
        </p:nvCxnSpPr>
        <p:spPr>
          <a:xfrm>
            <a:off x="809244" y="4231259"/>
            <a:ext cx="6949440" cy="0"/>
          </a:xfrm>
          <a:prstGeom prst="straightConnector1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2"/>
          <p:cNvSpPr txBox="1"/>
          <p:nvPr/>
        </p:nvSpPr>
        <p:spPr>
          <a:xfrm>
            <a:off x="809244" y="4450715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ADMIN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6" name="Google Shape;166;p12"/>
          <p:cNvSpPr txBox="1"/>
          <p:nvPr/>
        </p:nvSpPr>
        <p:spPr>
          <a:xfrm>
            <a:off x="7223760" y="1737360"/>
            <a:ext cx="45262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7F5"/>
              </a:buClr>
              <a:buSzPts val="21600"/>
              <a:buFont typeface="Plus Jakarta Sans"/>
              <a:buNone/>
            </a:pPr>
            <a:r>
              <a:rPr b="1" i="0" lang="en-US" sz="21600" u="none" cap="none" strike="noStrike">
                <a:solidFill>
                  <a:srgbClr val="C9D7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0" i="0" sz="216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 · ADMIN DASHBOARD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Managing users and View classrooms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76" name="Google Shape;176;p13"/>
          <p:cNvCxnSpPr/>
          <p:nvPr/>
        </p:nvCxnSpPr>
        <p:spPr>
          <a:xfrm>
            <a:off x="809244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13"/>
          <p:cNvSpPr txBox="1"/>
          <p:nvPr/>
        </p:nvSpPr>
        <p:spPr>
          <a:xfrm>
            <a:off x="809244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 instructors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Create, update, delete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 instructor accounts, edit their details, and remove accounts no longer needed.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270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lang="en-US" sz="1900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View </a:t>
            </a: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classrooms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lang="en-US" sz="1450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View classroom members and courses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250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See every classroom, its instructors and students, and the names of its courses. Course files and resources stay private to the classroom.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78" name="Google Shape;178;p13"/>
          <p:cNvCxnSpPr/>
          <p:nvPr/>
        </p:nvCxnSpPr>
        <p:spPr>
          <a:xfrm>
            <a:off x="6551676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3"/>
          <p:cNvSpPr txBox="1"/>
          <p:nvPr/>
        </p:nvSpPr>
        <p:spPr>
          <a:xfrm>
            <a:off x="6551676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 students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Create, update, delete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 student accounts one by one, edit their details, or remove them.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Import Excel user list (students only)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Students log in with the emailed credentials, then are prompted to enter additional information.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270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KPI Card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Show Total KPI Card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 users list, total instructors, total students, total courses and students joined.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 · ADMIN DASHBOARD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Account and security controls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89" name="Google Shape;189;p14"/>
          <p:cNvCxnSpPr/>
          <p:nvPr/>
        </p:nvCxnSpPr>
        <p:spPr>
          <a:xfrm>
            <a:off x="809244" y="1755648"/>
            <a:ext cx="3267456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14"/>
          <p:cNvSpPr txBox="1"/>
          <p:nvPr/>
        </p:nvSpPr>
        <p:spPr>
          <a:xfrm>
            <a:off x="809244" y="1883664"/>
            <a:ext cx="3267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accounts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809244" y="2176272"/>
            <a:ext cx="32674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Plus Jakarta Sans"/>
              <a:buNone/>
            </a:pPr>
            <a:r>
              <a:rPr b="0" i="0" lang="en-US" sz="11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Edit, disable and enable users</a:t>
            </a:r>
            <a:endParaRPr b="0"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92" name="Google Shape;192;p14"/>
          <p:cNvCxnSpPr/>
          <p:nvPr/>
        </p:nvCxnSpPr>
        <p:spPr>
          <a:xfrm>
            <a:off x="4460748" y="1755648"/>
            <a:ext cx="3267456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14"/>
          <p:cNvSpPr txBox="1"/>
          <p:nvPr/>
        </p:nvSpPr>
        <p:spPr>
          <a:xfrm>
            <a:off x="4460748" y="1883664"/>
            <a:ext cx="3267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Roles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4460748" y="2176272"/>
            <a:ext cx="32674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Plus Jakarta Sans"/>
              <a:buNone/>
            </a:pPr>
            <a:r>
              <a:rPr b="0" i="0" lang="en-US" sz="11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Change roles (Instructor, Student)</a:t>
            </a:r>
            <a:endParaRPr b="0"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95" name="Google Shape;195;p14"/>
          <p:cNvCxnSpPr/>
          <p:nvPr/>
        </p:nvCxnSpPr>
        <p:spPr>
          <a:xfrm>
            <a:off x="8112252" y="1755648"/>
            <a:ext cx="3267456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4"/>
          <p:cNvSpPr txBox="1"/>
          <p:nvPr/>
        </p:nvSpPr>
        <p:spPr>
          <a:xfrm>
            <a:off x="8112252" y="1883664"/>
            <a:ext cx="3267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Passwords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8112252" y="2176272"/>
            <a:ext cx="32674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Plus Jakarta Sans"/>
              <a:buNone/>
            </a:pPr>
            <a:r>
              <a:rPr b="0" i="0" lang="en-US" sz="11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Trigger a password reset or force a password change</a:t>
            </a:r>
            <a:endParaRPr b="0"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98" name="Google Shape;198;p14"/>
          <p:cNvCxnSpPr/>
          <p:nvPr/>
        </p:nvCxnSpPr>
        <p:spPr>
          <a:xfrm>
            <a:off x="809244" y="3035808"/>
            <a:ext cx="3267456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14"/>
          <p:cNvSpPr txBox="1"/>
          <p:nvPr/>
        </p:nvSpPr>
        <p:spPr>
          <a:xfrm>
            <a:off x="809244" y="3163824"/>
            <a:ext cx="3267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 log (Optional)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0" name="Google Shape;200;p14"/>
          <p:cNvSpPr txBox="1"/>
          <p:nvPr/>
        </p:nvSpPr>
        <p:spPr>
          <a:xfrm>
            <a:off x="809244" y="3456432"/>
            <a:ext cx="32674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Plus Jakarta Sans"/>
              <a:buNone/>
            </a:pPr>
            <a:r>
              <a:rPr b="0" i="0" lang="en-US" sz="11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View login events, failed logins and active sessions</a:t>
            </a:r>
            <a:endParaRPr b="0"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01" name="Google Shape;201;p14"/>
          <p:cNvCxnSpPr/>
          <p:nvPr/>
        </p:nvCxnSpPr>
        <p:spPr>
          <a:xfrm>
            <a:off x="4460748" y="3035808"/>
            <a:ext cx="3267456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14"/>
          <p:cNvSpPr txBox="1"/>
          <p:nvPr/>
        </p:nvSpPr>
        <p:spPr>
          <a:xfrm>
            <a:off x="4460748" y="3163824"/>
            <a:ext cx="3267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MFA</a:t>
            </a:r>
            <a:endParaRPr b="0"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3" name="Google Shape;203;p14"/>
          <p:cNvSpPr txBox="1"/>
          <p:nvPr/>
        </p:nvSpPr>
        <p:spPr>
          <a:xfrm>
            <a:off x="4460748" y="3456432"/>
            <a:ext cx="32674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Plus Jakarta Sans"/>
              <a:buNone/>
            </a:pPr>
            <a:r>
              <a:rPr b="0" i="0" lang="en-US" sz="11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Require MFA setup for specific users</a:t>
            </a:r>
            <a:endParaRPr b="0"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04" name="Google Shape;204;p14"/>
          <p:cNvCxnSpPr/>
          <p:nvPr/>
        </p:nvCxnSpPr>
        <p:spPr>
          <a:xfrm>
            <a:off x="809244" y="4453128"/>
            <a:ext cx="10570464" cy="0"/>
          </a:xfrm>
          <a:prstGeom prst="straightConnector1">
            <a:avLst/>
          </a:prstGeom>
          <a:noFill/>
          <a:ln cap="flat" cmpd="sng" w="1270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14"/>
          <p:cNvSpPr txBox="1"/>
          <p:nvPr/>
        </p:nvSpPr>
        <p:spPr>
          <a:xfrm>
            <a:off x="809244" y="459028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300"/>
              <a:buFont typeface="Plus Jakarta Sans"/>
              <a:buNone/>
            </a:pPr>
            <a:r>
              <a:rPr b="1" i="0" lang="en-US" sz="1300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Password expiration and rotation policy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3369564" y="4590288"/>
            <a:ext cx="80101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Admins can enforce automatic expiration intervals (e.g. 90 days) via Keycloak’s realm password policy.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/>
          <p:nvPr/>
        </p:nvSpPr>
        <p:spPr>
          <a:xfrm>
            <a:off x="809244" y="1621917"/>
            <a:ext cx="713232" cy="57150"/>
          </a:xfrm>
          <a:prstGeom prst="rect">
            <a:avLst/>
          </a:prstGeom>
          <a:solidFill>
            <a:srgbClr val="1F4F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809244" y="1925955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04 OF 08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809244" y="2273427"/>
            <a:ext cx="6949440" cy="1792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4200"/>
              <a:buFont typeface="Plus Jakarta Sans"/>
              <a:buNone/>
            </a:pPr>
            <a:r>
              <a:rPr b="1" i="0" lang="en-US" sz="42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Classroom &amp;</a:t>
            </a:r>
            <a:endParaRPr b="0" i="0" sz="4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4200"/>
              <a:buFont typeface="Plus Jakarta Sans"/>
              <a:buNone/>
            </a:pPr>
            <a:r>
              <a:rPr b="1" i="0" lang="en-US" sz="42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Learning Material</a:t>
            </a:r>
            <a:endParaRPr b="0" i="0" sz="4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4200"/>
              <a:buFont typeface="Plus Jakarta Sans"/>
              <a:buNone/>
            </a:pPr>
            <a:r>
              <a:rPr b="1" i="0" lang="en-US" sz="42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Management</a:t>
            </a:r>
            <a:endParaRPr b="0" i="0" sz="4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809244" y="4211955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Classrooms, courses, shared files and course workspaces</a:t>
            </a:r>
            <a:endParaRPr b="0"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16" name="Google Shape;216;p15"/>
          <p:cNvCxnSpPr/>
          <p:nvPr/>
        </p:nvCxnSpPr>
        <p:spPr>
          <a:xfrm>
            <a:off x="809244" y="4778883"/>
            <a:ext cx="6949440" cy="0"/>
          </a:xfrm>
          <a:prstGeom prst="straightConnector1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15"/>
          <p:cNvSpPr txBox="1"/>
          <p:nvPr/>
        </p:nvSpPr>
        <p:spPr>
          <a:xfrm>
            <a:off x="809244" y="4998339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INSTRUCTOR / STUDENT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8" name="Google Shape;218;p15"/>
          <p:cNvSpPr txBox="1"/>
          <p:nvPr/>
        </p:nvSpPr>
        <p:spPr>
          <a:xfrm>
            <a:off x="7223760" y="1737360"/>
            <a:ext cx="45262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7F5"/>
              </a:buClr>
              <a:buSzPts val="21600"/>
              <a:buFont typeface="Plus Jakarta Sans"/>
              <a:buNone/>
            </a:pPr>
            <a:r>
              <a:rPr b="1" i="0" lang="en-US" sz="21600" u="none" cap="none" strike="noStrike">
                <a:solidFill>
                  <a:srgbClr val="C9D7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 b="0" i="0" sz="216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14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6" name="Google Shape;226;p16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 · CLASSROOM &amp; LEARNING MATERIAL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Course structure and uploads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28" name="Google Shape;228;p16"/>
          <p:cNvCxnSpPr/>
          <p:nvPr/>
        </p:nvCxnSpPr>
        <p:spPr>
          <a:xfrm>
            <a:off x="809244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16"/>
          <p:cNvSpPr txBox="1"/>
          <p:nvPr/>
        </p:nvSpPr>
        <p:spPr>
          <a:xfrm>
            <a:off x="809244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Instructor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 a classroom with one or more courses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Invite co-instructors and students by link or code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 students (remove from classroom)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Upload files to a course: PDF, TXT, video, audio, PPTX, images, links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Remove files already uploaded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Join a classroom via code or link (co-instructor only)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30" name="Google Shape;230;p16"/>
          <p:cNvCxnSpPr/>
          <p:nvPr/>
        </p:nvCxnSpPr>
        <p:spPr>
          <a:xfrm>
            <a:off x="6551676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6"/>
          <p:cNvSpPr txBox="1"/>
          <p:nvPr/>
        </p:nvSpPr>
        <p:spPr>
          <a:xfrm>
            <a:off x="6551676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Join a classroom by opening the instructor’s invitation link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 join by typing the invitation code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Browse all files and resources the instructor shared in each course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Search and filter classroom files and resources by category or course name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 a course workspace to study a course’s materials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 · CLASSROOM &amp; LEARNING MATERIAL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Classrooms, courses and course workspaces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41" name="Google Shape;241;p17"/>
          <p:cNvCxnSpPr/>
          <p:nvPr/>
        </p:nvCxnSpPr>
        <p:spPr>
          <a:xfrm>
            <a:off x="809244" y="1755648"/>
            <a:ext cx="3157728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17"/>
          <p:cNvSpPr txBox="1"/>
          <p:nvPr/>
        </p:nvSpPr>
        <p:spPr>
          <a:xfrm>
            <a:off x="809244" y="1920240"/>
            <a:ext cx="3157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000"/>
              <a:buFont typeface="Plus Jakarta Sans"/>
              <a:buNone/>
            </a:pPr>
            <a:r>
              <a:rPr b="1" i="0" lang="en-US" sz="10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 · CLASSROOM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3" name="Google Shape;243;p17"/>
          <p:cNvSpPr txBox="1"/>
          <p:nvPr/>
        </p:nvSpPr>
        <p:spPr>
          <a:xfrm>
            <a:off x="809244" y="2176272"/>
            <a:ext cx="31577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Plus Jakarta Sans"/>
              <a:buNone/>
            </a:pPr>
            <a:r>
              <a:rPr b="1" i="0" lang="en-US" sz="17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Classroom</a:t>
            </a:r>
            <a:endParaRPr b="0" i="0" sz="1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4" name="Google Shape;244;p17"/>
          <p:cNvSpPr txBox="1"/>
          <p:nvPr/>
        </p:nvSpPr>
        <p:spPr>
          <a:xfrm>
            <a:off x="809244" y="2596896"/>
            <a:ext cx="31577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Plus Jakarta Sans"/>
              <a:buNone/>
            </a:pP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Created by the instructor. Students and co-instructors join by invitation link or code.</a:t>
            </a:r>
            <a:endParaRPr b="0" i="0" sz="12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4058412" y="254203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46" name="Google Shape;246;p17"/>
          <p:cNvCxnSpPr/>
          <p:nvPr/>
        </p:nvCxnSpPr>
        <p:spPr>
          <a:xfrm>
            <a:off x="4515612" y="1755648"/>
            <a:ext cx="3157728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17"/>
          <p:cNvSpPr txBox="1"/>
          <p:nvPr/>
        </p:nvSpPr>
        <p:spPr>
          <a:xfrm>
            <a:off x="4515612" y="1920240"/>
            <a:ext cx="3157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000"/>
              <a:buFont typeface="Plus Jakarta Sans"/>
              <a:buNone/>
            </a:pPr>
            <a:r>
              <a:rPr b="1" i="0" lang="en-US" sz="10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 · COURSE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4515612" y="2176272"/>
            <a:ext cx="31577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Plus Jakarta Sans"/>
              <a:buNone/>
            </a:pPr>
            <a:r>
              <a:rPr b="1" i="0" lang="en-US" sz="17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or more courses</a:t>
            </a:r>
            <a:endParaRPr b="0" i="0" sz="1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4515612" y="2596896"/>
            <a:ext cx="31577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Plus Jakarta Sans"/>
              <a:buNone/>
            </a:pP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Each course is a subject inside the classroom and holds the learning materials the instructor uploads.</a:t>
            </a:r>
            <a:endParaRPr b="0" i="0" sz="12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7764780" y="254203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51" name="Google Shape;251;p17"/>
          <p:cNvCxnSpPr/>
          <p:nvPr/>
        </p:nvCxnSpPr>
        <p:spPr>
          <a:xfrm>
            <a:off x="8221980" y="1755648"/>
            <a:ext cx="3157728" cy="0"/>
          </a:xfrm>
          <a:prstGeom prst="straightConnector1">
            <a:avLst/>
          </a:prstGeom>
          <a:noFill/>
          <a:ln cap="flat" cmpd="sng" w="1270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17"/>
          <p:cNvSpPr txBox="1"/>
          <p:nvPr/>
        </p:nvSpPr>
        <p:spPr>
          <a:xfrm>
            <a:off x="8221980" y="1920240"/>
            <a:ext cx="3157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Plus Jakarta Sans"/>
              <a:buNone/>
            </a:pPr>
            <a:r>
              <a:rPr b="1" i="0" lang="en-US" sz="1000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 · COURSE WORKSPACE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8221980" y="2176272"/>
            <a:ext cx="31577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Plus Jakarta Sans"/>
              <a:buNone/>
            </a:pPr>
            <a:r>
              <a:rPr b="1" i="0" lang="en-US" sz="17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Course workspace</a:t>
            </a:r>
            <a:endParaRPr b="0" i="0" sz="1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8221980" y="2596896"/>
            <a:ext cx="31577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Plus Jakarta Sans"/>
              <a:buNone/>
            </a:pP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Created inside a course. Its sources are the course materials, so students study without uploading other documents.</a:t>
            </a:r>
            <a:endParaRPr b="0" i="0" sz="12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55" name="Google Shape;255;p17"/>
          <p:cNvCxnSpPr/>
          <p:nvPr/>
        </p:nvCxnSpPr>
        <p:spPr>
          <a:xfrm>
            <a:off x="809244" y="3813048"/>
            <a:ext cx="10570464" cy="0"/>
          </a:xfrm>
          <a:prstGeom prst="straightConnector1">
            <a:avLst/>
          </a:prstGeom>
          <a:noFill/>
          <a:ln cap="flat" cmpd="sng" w="1270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7"/>
          <p:cNvSpPr txBox="1"/>
          <p:nvPr/>
        </p:nvSpPr>
        <p:spPr>
          <a:xfrm>
            <a:off x="809244" y="395020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300"/>
              <a:buFont typeface="Plus Jakarta Sans"/>
              <a:buNone/>
            </a:pPr>
            <a:r>
              <a:rPr b="1" i="0" lang="en-US" sz="1300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students cannot upload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3369564" y="3950208"/>
            <a:ext cx="8010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Plus Jakarta Sans"/>
              <a:buNone/>
            </a:pP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instructor has already uploaded the course documents. Keeping course workspaces to those materials keeps AI answers, quizzes and flashcards aligned with the course.</a:t>
            </a:r>
            <a:endParaRPr b="0" i="0" sz="12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"/>
          <p:cNvSpPr/>
          <p:nvPr/>
        </p:nvSpPr>
        <p:spPr>
          <a:xfrm>
            <a:off x="809244" y="2004949"/>
            <a:ext cx="713232" cy="57150"/>
          </a:xfrm>
          <a:prstGeom prst="rect">
            <a:avLst/>
          </a:prstGeom>
          <a:solidFill>
            <a:srgbClr val="1F4F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809244" y="2308987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05 OF 08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809244" y="2656459"/>
            <a:ext cx="6949440" cy="69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4900"/>
              <a:buFont typeface="Plus Jakarta Sans"/>
              <a:buNone/>
            </a:pPr>
            <a:r>
              <a:rPr b="1" i="0" lang="en-US" sz="49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Workspaces</a:t>
            </a:r>
            <a:endParaRPr b="0" i="0" sz="4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809244" y="3499739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Personal and course workspaces for sources, chats, notes and study materials</a:t>
            </a:r>
            <a:endParaRPr b="0"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67" name="Google Shape;267;p18"/>
          <p:cNvCxnSpPr/>
          <p:nvPr/>
        </p:nvCxnSpPr>
        <p:spPr>
          <a:xfrm>
            <a:off x="809244" y="4395851"/>
            <a:ext cx="6949440" cy="0"/>
          </a:xfrm>
          <a:prstGeom prst="straightConnector1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18"/>
          <p:cNvSpPr txBox="1"/>
          <p:nvPr/>
        </p:nvSpPr>
        <p:spPr>
          <a:xfrm>
            <a:off x="809244" y="4615307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INSTRUCTOR / STUDENT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7223760" y="1737360"/>
            <a:ext cx="45262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7F5"/>
              </a:buClr>
              <a:buSzPts val="21600"/>
              <a:buFont typeface="Plus Jakarta Sans"/>
              <a:buNone/>
            </a:pPr>
            <a:r>
              <a:rPr b="1" i="0" lang="en-US" sz="21600" u="none" cap="none" strike="noStrike">
                <a:solidFill>
                  <a:srgbClr val="C9D7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</a:t>
            </a:r>
            <a:endParaRPr b="0" i="0" sz="216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17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 · WORKSPACES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Workspace management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79" name="Google Shape;279;p19"/>
          <p:cNvCxnSpPr/>
          <p:nvPr/>
        </p:nvCxnSpPr>
        <p:spPr>
          <a:xfrm>
            <a:off x="809244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9"/>
          <p:cNvSpPr txBox="1"/>
          <p:nvPr/>
        </p:nvSpPr>
        <p:spPr>
          <a:xfrm>
            <a:off x="809244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Instructors and students can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Create, rename and delete workspaces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 a description and optional cover or icon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View and manage their workspaces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 workspaces as favorites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 documents or sources (personal workspace)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81" name="Google Shape;281;p19"/>
          <p:cNvCxnSpPr/>
          <p:nvPr/>
        </p:nvCxnSpPr>
        <p:spPr>
          <a:xfrm>
            <a:off x="6551676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9"/>
          <p:cNvSpPr txBox="1"/>
          <p:nvPr/>
        </p:nvSpPr>
        <p:spPr>
          <a:xfrm>
            <a:off x="6551676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Two kinds of workspace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Personal workspace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Created from My Workspace. It holds the sources its owner adds and is not linked to a classroom.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Course workspace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Created inside a course. Its sources are the instructor’s course materials.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18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 · WORKSPACES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Personal and course workspaces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292" name="Google Shape;292;p20"/>
          <p:cNvGraphicFramePr/>
          <p:nvPr/>
        </p:nvGraphicFramePr>
        <p:xfrm>
          <a:off x="809244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{C1CF8FD0-4485-49F3-B93D-573E424638A0}</a:tableStyleId>
              </a:tblPr>
              <a:tblGrid>
                <a:gridCol w="2560325"/>
                <a:gridCol w="4005075"/>
                <a:gridCol w="40050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lus Jakarta Sans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000"/>
                        <a:buFont typeface="Plus Jakarta San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PERSONAL WORKSPACE</a:t>
                      </a:r>
                      <a:endParaRPr sz="10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410C"/>
                        </a:buClr>
                        <a:buSzPts val="1000"/>
                        <a:buFont typeface="Plus Jakarta San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2410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COURSE WORKSPACE</a:t>
                      </a:r>
                      <a:endParaRPr sz="10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00"/>
                        <a:buFont typeface="Plus Jakarta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Where it is created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Plus Jakarta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My Workspace page</a:t>
                      </a:r>
                      <a:endParaRPr sz="13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Plus Jakarta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Inside a course</a:t>
                      </a:r>
                      <a:endParaRPr sz="13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00"/>
                        <a:buFont typeface="Plus Jakarta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Sources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Plus Jakarta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Sources the owner adds</a:t>
                      </a:r>
                      <a:endParaRPr sz="13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Plus Jakarta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The instructor’s course materials</a:t>
                      </a:r>
                      <a:endParaRPr sz="13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00"/>
                        <a:buFont typeface="Plus Jakarta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Add or remove sources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Plus Jakarta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Yes</a:t>
                      </a:r>
                      <a:endParaRPr sz="13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Plus Jakarta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 for students; the instructor manages course materials</a:t>
                      </a:r>
                      <a:endParaRPr sz="13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00"/>
                        <a:buFont typeface="Plus Jakarta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AI tutor answers from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Plus Jakarta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The owner’s sources</a:t>
                      </a:r>
                      <a:endParaRPr sz="13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Plus Jakarta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The course materials</a:t>
                      </a:r>
                      <a:endParaRPr sz="13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00"/>
                        <a:buFont typeface="Plus Jakarta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Notes, AI chats, resources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Plus Jakarta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Yes, private</a:t>
                      </a:r>
                      <a:endParaRPr sz="13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Plus Jakarta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Yes, private to each student</a:t>
                      </a:r>
                      <a:endParaRPr sz="13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28025" marB="128025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 · WORKSPACES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a workspace holds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302" name="Google Shape;302;p21"/>
          <p:cNvGraphicFramePr/>
          <p:nvPr/>
        </p:nvGraphicFramePr>
        <p:xfrm>
          <a:off x="809244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{C1CF8FD0-4485-49F3-B93D-573E424638A0}</a:tableStyleId>
              </a:tblPr>
              <a:tblGrid>
                <a:gridCol w="2560325"/>
                <a:gridCol w="80101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Sources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Documents or sources in the workspace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AI chats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Conversations with the AI tutor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Notes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Personal notes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AI-generated learning resources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Flashcards, quizzes, multiple-choice, True/False, matching and fill-in-the-blank questions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 · WORKSPACES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Instructor and student personal workspaces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12" name="Google Shape;312;p22"/>
          <p:cNvCxnSpPr/>
          <p:nvPr/>
        </p:nvCxnSpPr>
        <p:spPr>
          <a:xfrm>
            <a:off x="809244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22"/>
          <p:cNvSpPr txBox="1"/>
          <p:nvPr/>
        </p:nvSpPr>
        <p:spPr>
          <a:xfrm>
            <a:off x="809244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Instructor workspace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Prepare lessons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Collect sources, write notes, and draft material before uploading it to a course.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Chat with AI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questions about their own sources and get answers with citations.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 with AI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 quizzes and flashcards from their own sources</a:t>
            </a:r>
            <a:r>
              <a:rPr lang="en-US" sz="1250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14" name="Google Shape;314;p22"/>
          <p:cNvCxnSpPr/>
          <p:nvPr/>
        </p:nvCxnSpPr>
        <p:spPr>
          <a:xfrm>
            <a:off x="6551676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22"/>
          <p:cNvSpPr txBox="1"/>
          <p:nvPr/>
        </p:nvSpPr>
        <p:spPr>
          <a:xfrm>
            <a:off x="6551676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 workspace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Study on their own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 personal sources and keep notes in a private notebook.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Practice with AI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 flashcards and quizzes for self-assessment.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the AI tutor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Get answers grounded in their own sources, with citations.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Stay organized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Keep AI chats, notes and generated resources together in one place.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21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3" name="Google Shape;323;p23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 · WORKSPACES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Course workspace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25" name="Google Shape;325;p23"/>
          <p:cNvCxnSpPr/>
          <p:nvPr/>
        </p:nvCxnSpPr>
        <p:spPr>
          <a:xfrm>
            <a:off x="809244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23"/>
          <p:cNvSpPr txBox="1"/>
          <p:nvPr/>
        </p:nvSpPr>
        <p:spPr>
          <a:xfrm>
            <a:off x="809244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students </a:t>
            </a:r>
            <a:r>
              <a:rPr b="1" lang="en-US" sz="1900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and instructors </a:t>
            </a: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 do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the AI tutor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Get answers grounded in the course materials, with citations.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Practice with AI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 flashcards and quizzes from selected course materials.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Keep notes and chats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Write notes and keep AI chats about the course in one place.</a:t>
            </a:r>
            <a:endParaRPr b="0" i="0" sz="1250" u="none" cap="none" strike="noStrike">
              <a:solidFill>
                <a:srgbClr val="5555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5555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Instructors can also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1803" lvl="0" marL="201168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lang="en-US" sz="1450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Shared Resources(Quiz and Flashcard)</a:t>
            </a:r>
            <a:br>
              <a:rPr lang="en-US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250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Share quizzes and flashcard sets generated from course materials with the course, so students can practice with them.</a:t>
            </a:r>
            <a:endParaRPr sz="1250">
              <a:solidFill>
                <a:srgbClr val="5555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27" name="Google Shape;327;p23"/>
          <p:cNvCxnSpPr/>
          <p:nvPr/>
        </p:nvCxnSpPr>
        <p:spPr>
          <a:xfrm>
            <a:off x="6551676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23"/>
          <p:cNvSpPr txBox="1"/>
          <p:nvPr/>
        </p:nvSpPr>
        <p:spPr>
          <a:xfrm>
            <a:off x="6551676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Sources come from the course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Course materials only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instructor’s uploads are the sources. Students cannot upload or remove documents.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Always up to date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New material the instructor adds to the course appears in the workspace.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Private study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Each student’s notes, chats and generated resources stay private.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"/>
          <p:cNvSpPr/>
          <p:nvPr/>
        </p:nvSpPr>
        <p:spPr>
          <a:xfrm>
            <a:off x="809244" y="1656461"/>
            <a:ext cx="713232" cy="57150"/>
          </a:xfrm>
          <a:prstGeom prst="rect">
            <a:avLst/>
          </a:prstGeom>
          <a:solidFill>
            <a:srgbClr val="1F4F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809244" y="1960499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06 OF 08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6" name="Google Shape;336;p24"/>
          <p:cNvSpPr txBox="1"/>
          <p:nvPr/>
        </p:nvSpPr>
        <p:spPr>
          <a:xfrm>
            <a:off x="809244" y="2307971"/>
            <a:ext cx="6949440" cy="1393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4900"/>
              <a:buFont typeface="Plus Jakarta Sans"/>
              <a:buNone/>
            </a:pPr>
            <a:r>
              <a:rPr b="1" i="0" lang="en-US" sz="49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AI-Generated</a:t>
            </a:r>
            <a:endParaRPr b="0" i="0" sz="4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4900"/>
              <a:buFont typeface="Plus Jakarta Sans"/>
              <a:buNone/>
            </a:pPr>
            <a:r>
              <a:rPr b="1" i="0" lang="en-US" sz="49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Learning Resources</a:t>
            </a:r>
            <a:endParaRPr b="0" i="0" sz="4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7" name="Google Shape;337;p24"/>
          <p:cNvSpPr txBox="1"/>
          <p:nvPr/>
        </p:nvSpPr>
        <p:spPr>
          <a:xfrm>
            <a:off x="809244" y="3848227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 quizzes and flashcards from workspace sources to help students study, review and practice.</a:t>
            </a:r>
            <a:endParaRPr b="0"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38" name="Google Shape;338;p24"/>
          <p:cNvCxnSpPr/>
          <p:nvPr/>
        </p:nvCxnSpPr>
        <p:spPr>
          <a:xfrm>
            <a:off x="809244" y="4744339"/>
            <a:ext cx="6949440" cy="0"/>
          </a:xfrm>
          <a:prstGeom prst="straightConnector1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24"/>
          <p:cNvSpPr txBox="1"/>
          <p:nvPr/>
        </p:nvSpPr>
        <p:spPr>
          <a:xfrm>
            <a:off x="809244" y="4963795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INSTRUCTOR / STUDENT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7223760" y="1737360"/>
            <a:ext cx="45262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7F5"/>
              </a:buClr>
              <a:buSzPts val="21600"/>
              <a:buFont typeface="Plus Jakarta Sans"/>
              <a:buNone/>
            </a:pPr>
            <a:r>
              <a:rPr b="1" i="0" lang="en-US" sz="21600" u="none" cap="none" strike="noStrike">
                <a:solidFill>
                  <a:srgbClr val="C9D7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</a:t>
            </a:r>
            <a:endParaRPr b="0" i="0" sz="216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23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8" name="Google Shape;348;p25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 · AI-GENERATED LEARNING RESOURCES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9" name="Google Shape;349;p25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Difficulty levels and configuration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50" name="Google Shape;350;p25"/>
          <p:cNvCxnSpPr/>
          <p:nvPr/>
        </p:nvCxnSpPr>
        <p:spPr>
          <a:xfrm>
            <a:off x="809244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25"/>
          <p:cNvSpPr txBox="1"/>
          <p:nvPr/>
        </p:nvSpPr>
        <p:spPr>
          <a:xfrm>
            <a:off x="809244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 generating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Quantity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Choose how many questions or flashcards to create.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Difficulty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Pick Easy, Medium, Hard or Mixed.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 instructions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Optional. Name the topics, keywords or concepts to focus on.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 materials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Choose which workspace sources to generate from: your own sources, or the course materials in a course workspace.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52" name="Google Shape;352;p25"/>
          <p:cNvCxnSpPr/>
          <p:nvPr/>
        </p:nvCxnSpPr>
        <p:spPr>
          <a:xfrm>
            <a:off x="6551676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25"/>
          <p:cNvSpPr txBox="1"/>
          <p:nvPr/>
        </p:nvSpPr>
        <p:spPr>
          <a:xfrm>
            <a:off x="6551676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After submitting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Auto-grading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Submitted answers are evaluated automatically.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score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student sees their final score when grading finishes.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Answer feedback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Show the correct answers with detailed explanations.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2700"/>
              </a:spcBef>
              <a:spcAft>
                <a:spcPts val="0"/>
              </a:spcAft>
              <a:buClr>
                <a:srgbClr val="C2410C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After generating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 generated questions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 the quiz or flashcards before starting. If needed, regenerate with updated settings.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0" name="Google Shape;360;p26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1" name="Google Shape;361;p26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 · AI-GENERATED LEARNING RESOURCES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2" name="Google Shape;362;p26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Flashcards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63" name="Google Shape;363;p26"/>
          <p:cNvCxnSpPr/>
          <p:nvPr/>
        </p:nvCxnSpPr>
        <p:spPr>
          <a:xfrm>
            <a:off x="809244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26"/>
          <p:cNvSpPr txBox="1"/>
          <p:nvPr/>
        </p:nvSpPr>
        <p:spPr>
          <a:xfrm>
            <a:off x="809244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 and navigation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 interactive study flashcards from selected learning materials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Questions, technical concepts or terms on the front face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Navigate with Next and Previous, or shuffle randomly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65" name="Google Shape;365;p26"/>
          <p:cNvCxnSpPr/>
          <p:nvPr/>
        </p:nvCxnSpPr>
        <p:spPr>
          <a:xfrm>
            <a:off x="6551676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26"/>
          <p:cNvSpPr txBox="1"/>
          <p:nvPr/>
        </p:nvSpPr>
        <p:spPr>
          <a:xfrm>
            <a:off x="6551676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After flipping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Detailed answers with source references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Definitions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 syntax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 the referenced source material to reinforce learning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3" name="Google Shape;373;p27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4" name="Google Shape;374;p27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 · AI-GENERATED LEARNING RESOURCES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5" name="Google Shape;375;p27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Four question types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76" name="Google Shape;376;p27"/>
          <p:cNvCxnSpPr/>
          <p:nvPr/>
        </p:nvCxnSpPr>
        <p:spPr>
          <a:xfrm>
            <a:off x="809244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27"/>
          <p:cNvSpPr txBox="1"/>
          <p:nvPr/>
        </p:nvSpPr>
        <p:spPr>
          <a:xfrm>
            <a:off x="809244" y="1883664"/>
            <a:ext cx="4828032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Multiple choice (MCQ)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Single-select and multi-select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Students pick one answer, or several when more than one is correct.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Explanations with source references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Shows why each answer is right or wrong, with a link to the relevant source.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78" name="Google Shape;378;p27"/>
          <p:cNvCxnSpPr/>
          <p:nvPr/>
        </p:nvCxnSpPr>
        <p:spPr>
          <a:xfrm>
            <a:off x="6551676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27"/>
          <p:cNvSpPr txBox="1"/>
          <p:nvPr/>
        </p:nvSpPr>
        <p:spPr>
          <a:xfrm>
            <a:off x="6551676" y="1883664"/>
            <a:ext cx="4828032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True / False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Practice statements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Students decide whether each statement is true or false.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Contextual feedback &amp; source links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Explains why statements are true or false and references the original course slide.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80" name="Google Shape;380;p27"/>
          <p:cNvCxnSpPr/>
          <p:nvPr/>
        </p:nvCxnSpPr>
        <p:spPr>
          <a:xfrm>
            <a:off x="809244" y="399592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27"/>
          <p:cNvSpPr txBox="1"/>
          <p:nvPr/>
        </p:nvSpPr>
        <p:spPr>
          <a:xfrm>
            <a:off x="809244" y="4123944"/>
            <a:ext cx="4828032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Matching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Matching exercises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Pair items from two lists.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Concepts and definitions, source-grounded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Shows the correct pairs and why, with a link to the lecture slide for each.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82" name="Google Shape;382;p27"/>
          <p:cNvCxnSpPr/>
          <p:nvPr/>
        </p:nvCxnSpPr>
        <p:spPr>
          <a:xfrm>
            <a:off x="6551676" y="399592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27"/>
          <p:cNvSpPr txBox="1"/>
          <p:nvPr/>
        </p:nvSpPr>
        <p:spPr>
          <a:xfrm>
            <a:off x="6551676" y="4123944"/>
            <a:ext cx="4828032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Fill in the blank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Complete the sentence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Students type the missing word or phrase.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Answers with explanations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Displays the correct answer, rationale, and source reference to help students review mistakes.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8"/>
          <p:cNvSpPr/>
          <p:nvPr/>
        </p:nvSpPr>
        <p:spPr>
          <a:xfrm>
            <a:off x="809244" y="1821053"/>
            <a:ext cx="713232" cy="57150"/>
          </a:xfrm>
          <a:prstGeom prst="rect">
            <a:avLst/>
          </a:prstGeom>
          <a:solidFill>
            <a:srgbClr val="1F4F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8"/>
          <p:cNvSpPr txBox="1"/>
          <p:nvPr/>
        </p:nvSpPr>
        <p:spPr>
          <a:xfrm>
            <a:off x="809244" y="2125091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07 OF 08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1" name="Google Shape;391;p28"/>
          <p:cNvSpPr txBox="1"/>
          <p:nvPr/>
        </p:nvSpPr>
        <p:spPr>
          <a:xfrm>
            <a:off x="809244" y="2472563"/>
            <a:ext cx="6949440" cy="1393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4900"/>
              <a:buFont typeface="Plus Jakarta Sans"/>
              <a:buNone/>
            </a:pPr>
            <a:r>
              <a:rPr b="1" i="0" lang="en-US" sz="49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Tutor Chat &amp;</a:t>
            </a:r>
            <a:endParaRPr b="0" i="0" sz="4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4900"/>
              <a:buFont typeface="Plus Jakarta Sans"/>
              <a:buNone/>
            </a:pPr>
            <a:r>
              <a:rPr b="1" i="0" lang="en-US" sz="49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Summarization</a:t>
            </a:r>
            <a:endParaRPr b="0" i="0" sz="4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2" name="Google Shape;392;p28"/>
          <p:cNvSpPr txBox="1"/>
          <p:nvPr/>
        </p:nvSpPr>
        <p:spPr>
          <a:xfrm>
            <a:off x="809244" y="4012819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Grounded answers, explanations and summaries</a:t>
            </a:r>
            <a:endParaRPr b="0"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93" name="Google Shape;393;p28"/>
          <p:cNvCxnSpPr/>
          <p:nvPr/>
        </p:nvCxnSpPr>
        <p:spPr>
          <a:xfrm>
            <a:off x="809244" y="4579747"/>
            <a:ext cx="6949440" cy="0"/>
          </a:xfrm>
          <a:prstGeom prst="straightConnector1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28"/>
          <p:cNvSpPr txBox="1"/>
          <p:nvPr/>
        </p:nvSpPr>
        <p:spPr>
          <a:xfrm>
            <a:off x="809244" y="4799203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STUDENT / INSTRUCTOR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5" name="Google Shape;395;p28"/>
          <p:cNvSpPr txBox="1"/>
          <p:nvPr/>
        </p:nvSpPr>
        <p:spPr>
          <a:xfrm>
            <a:off x="7223760" y="1737360"/>
            <a:ext cx="45262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7F5"/>
              </a:buClr>
              <a:buSzPts val="21600"/>
              <a:buFont typeface="Plus Jakarta Sans"/>
              <a:buNone/>
            </a:pPr>
            <a:r>
              <a:rPr b="1" i="0" lang="en-US" sz="21600" u="none" cap="none" strike="noStrike">
                <a:solidFill>
                  <a:srgbClr val="C9D7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</a:t>
            </a:r>
            <a:endParaRPr b="0" i="0" sz="216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9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27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 · AI TUTOR CHAT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Grounded answers with citations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405" name="Google Shape;405;p29"/>
          <p:cNvGraphicFramePr/>
          <p:nvPr/>
        </p:nvGraphicFramePr>
        <p:xfrm>
          <a:off x="809244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{C1CF8FD0-4485-49F3-B93D-573E424638A0}</a:tableStyleId>
              </a:tblPr>
              <a:tblGrid>
                <a:gridCol w="2560325"/>
                <a:gridCol w="80101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Ask questions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About the sources in the current workspace: your own sources in a personal workspace, the course materials in a course workspace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Grounded answers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Based only on that workspace’s sources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Hover Peek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Quick preview of a citation before you click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Contextual Follow-up Suggestions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Dynamically generates 3 relevant follow-up questions based on the current discussion to guide deeper exploration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2" name="Google Shape;412;p30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28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3" name="Google Shape;413;p30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 · AI TUTOR CHAT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4" name="Google Shape;414;p30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Explaining in the student’s terms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415" name="Google Shape;415;p30"/>
          <p:cNvCxnSpPr/>
          <p:nvPr/>
        </p:nvCxnSpPr>
        <p:spPr>
          <a:xfrm>
            <a:off x="809244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p30"/>
          <p:cNvSpPr txBox="1"/>
          <p:nvPr/>
        </p:nvSpPr>
        <p:spPr>
          <a:xfrm>
            <a:off x="809244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Explaining clearly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Plain language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Difficult concepts broken down in plain words, step by step.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Examples and analogies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for an example or an analogy. The tutor notes where an analogy stops being accurate.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Compare two concepts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“X vs Y” for a table of similarities, differences and when to use each, with citations.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417" name="Google Shape;417;p30"/>
          <p:cNvCxnSpPr/>
          <p:nvPr/>
        </p:nvCxnSpPr>
        <p:spPr>
          <a:xfrm>
            <a:off x="6551676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30"/>
          <p:cNvSpPr txBox="1"/>
          <p:nvPr/>
        </p:nvSpPr>
        <p:spPr>
          <a:xfrm>
            <a:off x="6551676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Beyond the materials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 search fallback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the workspace sources lack the answer, the tutor can search the web. Web results are labeled.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Plus Jakarta Sans"/>
              <a:buChar char="●"/>
            </a:pPr>
            <a:r>
              <a:rPr b="1" i="0" lang="en-US" sz="145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Their own language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z="125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in Khmer or English and get the answer in the same language.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1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5" name="Google Shape;425;p31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29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6" name="Google Shape;426;p31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 · SUMMARIZATION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7" name="Google Shape;427;p31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Summaries for documents and lectures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428" name="Google Shape;428;p31"/>
          <p:cNvCxnSpPr/>
          <p:nvPr/>
        </p:nvCxnSpPr>
        <p:spPr>
          <a:xfrm>
            <a:off x="809244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1F4F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31"/>
          <p:cNvSpPr txBox="1"/>
          <p:nvPr/>
        </p:nvSpPr>
        <p:spPr>
          <a:xfrm>
            <a:off x="809244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Short summary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Detailed summary: structured, sectioned, longer-form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concepts: main ideas, each with a one-line explanation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Important definitions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Learning objectives: what the student should be able to do after studying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Chapter-by-chapter summaries: modular, section-by-section breakdowns for lengthy readings and textbook chapters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430" name="Google Shape;430;p31"/>
          <p:cNvCxnSpPr/>
          <p:nvPr/>
        </p:nvCxnSpPr>
        <p:spPr>
          <a:xfrm>
            <a:off x="6551676" y="1755648"/>
            <a:ext cx="4828032" cy="0"/>
          </a:xfrm>
          <a:prstGeom prst="straightConnector1">
            <a:avLst/>
          </a:prstGeom>
          <a:noFill/>
          <a:ln cap="flat" cmpd="sng" w="1270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31"/>
          <p:cNvSpPr txBox="1"/>
          <p:nvPr/>
        </p:nvSpPr>
        <p:spPr>
          <a:xfrm>
            <a:off x="6551676" y="1901952"/>
            <a:ext cx="4828032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900"/>
              <a:buFont typeface="Plus Jakarta Sans"/>
              <a:buNone/>
            </a:pPr>
            <a:r>
              <a:rPr b="1" i="0" lang="en-US" sz="1900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video, link and audio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Summarize a lecture video, link or audio file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Each point links to a timestamp, so students can jump to that moment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3200" lvl="0" marL="203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1B1B1B"/>
              </a:buClr>
              <a:buSzPts val="1275"/>
              <a:buFont typeface="Plus Jakarta Sans"/>
              <a:buChar char="●"/>
            </a:pPr>
            <a:r>
              <a:rPr b="0" i="0" lang="en-US" sz="1275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concepts and definitions show when they were mentioned</a:t>
            </a:r>
            <a:endParaRPr b="0" i="0" sz="1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2"/>
          <p:cNvSpPr/>
          <p:nvPr/>
        </p:nvSpPr>
        <p:spPr>
          <a:xfrm>
            <a:off x="809244" y="2004949"/>
            <a:ext cx="713232" cy="57150"/>
          </a:xfrm>
          <a:prstGeom prst="rect">
            <a:avLst/>
          </a:prstGeom>
          <a:solidFill>
            <a:srgbClr val="1F4F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2"/>
          <p:cNvSpPr txBox="1"/>
          <p:nvPr/>
        </p:nvSpPr>
        <p:spPr>
          <a:xfrm>
            <a:off x="809244" y="2308987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08 OF 08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9" name="Google Shape;439;p32"/>
          <p:cNvSpPr txBox="1"/>
          <p:nvPr/>
        </p:nvSpPr>
        <p:spPr>
          <a:xfrm>
            <a:off x="809244" y="2656459"/>
            <a:ext cx="6949440" cy="69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4900"/>
              <a:buFont typeface="Plus Jakarta Sans"/>
              <a:buNone/>
            </a:pPr>
            <a:r>
              <a:rPr b="1" i="0" lang="en-US" sz="49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Mobile App</a:t>
            </a:r>
            <a:endParaRPr b="0" i="0" sz="4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0" name="Google Shape;440;p32"/>
          <p:cNvSpPr txBox="1"/>
          <p:nvPr/>
        </p:nvSpPr>
        <p:spPr>
          <a:xfrm>
            <a:off x="809244" y="3499739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Classrooms, courses, workspaces and the AI tutor on the phone</a:t>
            </a:r>
            <a:endParaRPr b="0"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441" name="Google Shape;441;p32"/>
          <p:cNvCxnSpPr/>
          <p:nvPr/>
        </p:nvCxnSpPr>
        <p:spPr>
          <a:xfrm>
            <a:off x="809244" y="4395851"/>
            <a:ext cx="6949440" cy="0"/>
          </a:xfrm>
          <a:prstGeom prst="straightConnector1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32"/>
          <p:cNvSpPr txBox="1"/>
          <p:nvPr/>
        </p:nvSpPr>
        <p:spPr>
          <a:xfrm>
            <a:off x="809244" y="4615307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INSTRUCTOR / STUDENT</a:t>
            </a:r>
            <a:endParaRPr b="0" i="0" sz="1275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3" name="Google Shape;443;p32"/>
          <p:cNvSpPr txBox="1"/>
          <p:nvPr/>
        </p:nvSpPr>
        <p:spPr>
          <a:xfrm>
            <a:off x="7223760" y="1737360"/>
            <a:ext cx="45262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7F5"/>
              </a:buClr>
              <a:buSzPts val="21600"/>
              <a:buFont typeface="Plus Jakarta Sans"/>
              <a:buNone/>
            </a:pPr>
            <a:r>
              <a:rPr b="1" i="0" lang="en-US" sz="21600" u="none" cap="none" strike="noStrike">
                <a:solidFill>
                  <a:srgbClr val="C9D7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</a:t>
            </a:r>
            <a:endParaRPr b="0" i="0" sz="216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3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0" name="Google Shape;450;p33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31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1" name="Google Shape;451;p33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 · MOBILE APP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2" name="Google Shape;452;p33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Instructor on mobile: access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453" name="Google Shape;453;p33"/>
          <p:cNvGraphicFramePr/>
          <p:nvPr/>
        </p:nvGraphicFramePr>
        <p:xfrm>
          <a:off x="809244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{C1CF8FD0-4485-49F3-B93D-573E424638A0}</a:tableStyleId>
              </a:tblPr>
              <a:tblGrid>
                <a:gridCol w="2560325"/>
                <a:gridCol w="80101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Login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Email or username and password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Browsing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Classroom → course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Search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Classrooms and courses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Viewing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PDF viewer that jumps to a page (PPTX and Word shown as PDFs)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Notifications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New course material, my file finished processing, flashcard reminders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AI Tutor &amp; Chat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Answers appear as they’re written; scope follows the workspace (my sources or course materials); web results are labeled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4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0" name="Google Shape;460;p34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32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1" name="Google Shape;461;p34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 · MOBILE APP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2" name="Google Shape;462;p34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Instructor on mobile: lesson preparation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463" name="Google Shape;463;p34"/>
          <p:cNvGraphicFramePr/>
          <p:nvPr/>
        </p:nvGraphicFramePr>
        <p:xfrm>
          <a:off x="809244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{C1CF8FD0-4485-49F3-B93D-573E424638A0}</a:tableStyleId>
              </a:tblPr>
              <a:tblGrid>
                <a:gridCol w="2560325"/>
                <a:gridCol w="80101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Workspaces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Create personal workspaces to prepare lessons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Sources &amp; notes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Add files, photos, and links from the phone; write notes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Summaries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Summarize documents, chapters, videos, and links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Generate with AI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Quizzes and flashcards from selected sources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5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0" name="Google Shape;470;p35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33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1" name="Google Shape;471;p35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 · MOBILE APP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2" name="Google Shape;472;p35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Instructor on mobile: classroom management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473" name="Google Shape;473;p35"/>
          <p:cNvGraphicFramePr/>
          <p:nvPr/>
        </p:nvGraphicFramePr>
        <p:xfrm>
          <a:off x="809244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{C1CF8FD0-4485-49F3-B93D-573E424638A0}</a:tableStyleId>
              </a:tblPr>
              <a:tblGrid>
                <a:gridCol w="2560325"/>
                <a:gridCol w="80101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Classrooms &amp; courses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Create and edit classrooms, each with one or more courses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Invitations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Share an invitation link or code; regenerate, revoke, set expiry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Co-instructors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Invite other instructors to a classroom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Students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Remove students from a classroom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Upload materials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All file types, YouTube and web links, subtitle files; uploads continue in the background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Processing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See status (processing, ready, failed), retry, or remove a material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6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0" name="Google Shape;480;p36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34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1" name="Google Shape;481;p36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 · MOBILE APP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2" name="Google Shape;482;p36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 on mobile: access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483" name="Google Shape;483;p36"/>
          <p:cNvGraphicFramePr/>
          <p:nvPr/>
        </p:nvGraphicFramePr>
        <p:xfrm>
          <a:off x="809244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{C1CF8FD0-4485-49F3-B93D-573E424638A0}</a:tableStyleId>
              </a:tblPr>
              <a:tblGrid>
                <a:gridCol w="2560325"/>
                <a:gridCol w="80101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Login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Email or username and password, entered on the Keycloak login page in the phone’s browser, so the first-login password change and forgotten-password reset just work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Joining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Invitation link that opens the app directly, or typing the code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Browsing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Classroom → course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Viewing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PDF viewer that jumps to a page (PPTX and Word shown as PDFs)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AI Tutor &amp; Chat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Answers appear as they’re written; scope follows the workspace (my sources or course materials); web results are labeled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7"/>
          <p:cNvSpPr txBox="1"/>
          <p:nvPr/>
        </p:nvSpPr>
        <p:spPr>
          <a:xfrm>
            <a:off x="809244" y="62727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0" name="Google Shape;490;p37"/>
          <p:cNvSpPr txBox="1"/>
          <p:nvPr/>
        </p:nvSpPr>
        <p:spPr>
          <a:xfrm>
            <a:off x="10465308" y="6272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Plus Jakarta San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35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1" name="Google Shape;491;p37"/>
          <p:cNvSpPr txBox="1"/>
          <p:nvPr/>
        </p:nvSpPr>
        <p:spPr>
          <a:xfrm>
            <a:off x="809244" y="640080"/>
            <a:ext cx="10570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200"/>
              <a:buFont typeface="Plus Jakarta Sans"/>
              <a:buNone/>
            </a:pPr>
            <a:r>
              <a:rPr b="0" i="0" lang="en-US" sz="120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 · MOBILE APP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2" name="Google Shape;492;p37"/>
          <p:cNvSpPr txBox="1"/>
          <p:nvPr/>
        </p:nvSpPr>
        <p:spPr>
          <a:xfrm>
            <a:off x="809244" y="896112"/>
            <a:ext cx="10570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Plus Jakarta Sans"/>
              <a:buNone/>
            </a:pPr>
            <a:r>
              <a:rPr b="1" i="0" lang="en-US" sz="34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 on mobile: workspaces and study</a:t>
            </a:r>
            <a:endParaRPr b="0" i="0" sz="3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493" name="Google Shape;493;p37"/>
          <p:cNvGraphicFramePr/>
          <p:nvPr/>
        </p:nvGraphicFramePr>
        <p:xfrm>
          <a:off x="809244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{C1CF8FD0-4485-49F3-B93D-573E424638A0}</a:tableStyleId>
              </a:tblPr>
              <a:tblGrid>
                <a:gridCol w="2560325"/>
                <a:gridCol w="80101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Personal workspace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Create, rename, delete, favorite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1B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Course workspace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Create from a joined course; the course materials are the sources, no uploads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My sources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 a personal workspace: add files and photos from the phone, links, or share from other apps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Quizzes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Choose sources, number of questions, and difficulty; all four question types with score and feedback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FD8"/>
                        </a:buClr>
                        <a:buSzPts val="1450"/>
                        <a:buFont typeface="Plus Jakart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1F4F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Flashcards</a:t>
                      </a:r>
                      <a:endParaRPr sz="14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350"/>
                        <a:buFont typeface="Plus Jakarta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B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Swipe to flip and move; reminders to review</a:t>
                      </a:r>
                      <a:endParaRPr sz="135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150" marB="137150" marR="137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2E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/>
          <p:cNvSpPr/>
          <p:nvPr/>
        </p:nvSpPr>
        <p:spPr>
          <a:xfrm>
            <a:off x="809244" y="2743200"/>
            <a:ext cx="438912" cy="32004"/>
          </a:xfrm>
          <a:prstGeom prst="rect">
            <a:avLst/>
          </a:prstGeom>
          <a:solidFill>
            <a:srgbClr val="1F4F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8"/>
          <p:cNvSpPr txBox="1"/>
          <p:nvPr/>
        </p:nvSpPr>
        <p:spPr>
          <a:xfrm>
            <a:off x="809244" y="292608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5800"/>
              <a:buFont typeface="Plus Jakarta Sans"/>
              <a:buNone/>
            </a:pPr>
            <a:r>
              <a:rPr b="1" i="0" lang="en-US" sz="5800" u="none" cap="none" strike="noStrike">
                <a:solidFill>
                  <a:srgbClr val="1B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 b="0" i="0" sz="5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1" name="Google Shape;501;p38"/>
          <p:cNvSpPr txBox="1"/>
          <p:nvPr/>
        </p:nvSpPr>
        <p:spPr>
          <a:xfrm>
            <a:off x="809244" y="39502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FD8"/>
              </a:buClr>
              <a:buSzPts val="1150"/>
              <a:buFont typeface="Plus Jakarta Sans"/>
              <a:buNone/>
            </a:pPr>
            <a:r>
              <a:rPr b="1" i="0" lang="en-US" sz="1150" u="none" cap="none" strike="noStrike">
                <a:solidFill>
                  <a:srgbClr val="1F4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LEARNING ASSISTANT</a:t>
            </a:r>
            <a:endParaRPr b="0"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